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029" r:id="rId2"/>
    <p:sldId id="1030" r:id="rId3"/>
    <p:sldId id="1031" r:id="rId4"/>
    <p:sldId id="1032" r:id="rId5"/>
  </p:sldIdLst>
  <p:sldSz cx="12192000" cy="6858000"/>
  <p:notesSz cx="6811963" cy="99456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>
          <p15:clr>
            <a:srgbClr val="A4A3A4"/>
          </p15:clr>
        </p15:guide>
        <p15:guide id="2" pos="38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B0F0"/>
    <a:srgbClr val="0066CC"/>
    <a:srgbClr val="0070C0"/>
    <a:srgbClr val="DFF1F2"/>
    <a:srgbClr val="A3D6D9"/>
    <a:srgbClr val="004586"/>
    <a:srgbClr val="1C2948"/>
    <a:srgbClr val="FBBCA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1" autoAdjust="0"/>
    <p:restoredTop sz="84491" autoAdjust="0"/>
  </p:normalViewPr>
  <p:slideViewPr>
    <p:cSldViewPr snapToGrid="0">
      <p:cViewPr varScale="1">
        <p:scale>
          <a:sx n="103" d="100"/>
          <a:sy n="103" d="100"/>
        </p:scale>
        <p:origin x="2362" y="86"/>
      </p:cViewPr>
      <p:guideLst>
        <p:guide orient="horz" pos="2266"/>
        <p:guide pos="38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8387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r">
              <a:defRPr sz="1200"/>
            </a:lvl1pPr>
          </a:lstStyle>
          <a:p>
            <a:fld id="{33F7A549-B379-4C34-825B-70BFB0F88B3A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8387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r">
              <a:defRPr sz="1200"/>
            </a:lvl1pPr>
          </a:lstStyle>
          <a:p>
            <a:fld id="{2EC52559-07F0-4EB5-B465-6612A22996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7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781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4202"/>
            <a:ext cx="5449570" cy="447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7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algn="r" eaLnBrk="1" hangingPunct="1">
              <a:defRPr sz="13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020F7E6-B6AB-4685-9920-66673A4976C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3045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B079-324A-5866-61EA-1D3B680B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C4D556-4CF1-8A67-4049-A99D99C18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73DD11-9A62-F1CD-D5E6-A8104D578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B9C54-6E2E-7A93-058C-EE1F9AF74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BE8C-D157-21ED-7D7A-66D39AB9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5FB8B9-27F8-1287-C12F-EEA41D276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175421-3D64-84D8-2998-9569645EF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329CE8-3CEF-D295-20E4-F22517177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5655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8557-B8E4-368D-C27C-4DD457F2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1861D6-0573-0DB7-879E-C1F52BEEC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0C5666-348E-9EB0-FBF4-AA4BC63E5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B0170-72CF-FB7D-FA24-8556B4B57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976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6001B86-77EA-67CA-C8A5-4977C40FCA1D}"/>
              </a:ext>
            </a:extLst>
          </p:cNvPr>
          <p:cNvSpPr txBox="1">
            <a:spLocks noChangeArrowheads="1"/>
          </p:cNvSpPr>
          <p:nvPr/>
        </p:nvSpPr>
        <p:spPr>
          <a:xfrm>
            <a:off x="668338" y="235898"/>
            <a:ext cx="1152366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2026_AIT209_</a:t>
            </a:r>
            <a:r>
              <a:rPr lang="zh-CN" altLang="en-US" kern="0" dirty="0">
                <a:solidFill>
                  <a:schemeClr val="tx1"/>
                </a:solidFill>
              </a:rPr>
              <a:t>期末作业</a:t>
            </a:r>
            <a:endParaRPr lang="en-US" altLang="zh-CN" kern="0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28197E-1B3C-4F1F-6E01-0F5B8E7D9E00}"/>
              </a:ext>
            </a:extLst>
          </p:cNvPr>
          <p:cNvSpPr txBox="1"/>
          <p:nvPr/>
        </p:nvSpPr>
        <p:spPr>
          <a:xfrm>
            <a:off x="208844" y="1569030"/>
            <a:ext cx="11774311" cy="39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20000" algn="just">
              <a:lnSpc>
                <a:spcPct val="150000"/>
              </a:lnSpc>
              <a:buNone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、考评分数占比：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期末成绩占总成绩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60%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（展示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论文）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，叠加平时作业成绩的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40%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后，得到最终结果。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0000" algn="just">
              <a:lnSpc>
                <a:spcPct val="150000"/>
              </a:lnSpc>
              <a:buNone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、期末考核内容：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基于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Dry Bean Dataset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数据（教师提前分好训练集和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测试集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），做一个包含“数据分析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数据处理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多算法实验分析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系统展示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课程总结”在内的全流程机器学习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工程项目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lang="zh-CN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总结论文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en-US" altLang="zh-CN" sz="1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00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、期末考核形式：项目</a:t>
            </a: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+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论文。完成后能现场给老师讲解的有额外加分，只提交论文和项目说明的无加分。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截止时间：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2026.06.28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（结课当周（第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16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周）周末）</a:t>
            </a:r>
            <a:endParaRPr lang="en-US" altLang="zh-CN" b="1" kern="1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3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755D-1869-1913-7C48-C10AE3C5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672BE45-2058-BC3B-EC5B-640F3C82ADBA}"/>
              </a:ext>
            </a:extLst>
          </p:cNvPr>
          <p:cNvSpPr txBox="1">
            <a:spLocks noChangeArrowheads="1"/>
          </p:cNvSpPr>
          <p:nvPr/>
        </p:nvSpPr>
        <p:spPr>
          <a:xfrm>
            <a:off x="668338" y="235898"/>
            <a:ext cx="1152366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2026_AIT209_</a:t>
            </a:r>
            <a:r>
              <a:rPr lang="zh-CN" altLang="en-US" kern="0" dirty="0">
                <a:solidFill>
                  <a:schemeClr val="tx1"/>
                </a:solidFill>
              </a:rPr>
              <a:t>期末作业</a:t>
            </a:r>
            <a:endParaRPr lang="en-US" altLang="zh-CN" kern="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AC4B59-A590-F8C5-C506-BD49333D6277}"/>
              </a:ext>
            </a:extLst>
          </p:cNvPr>
          <p:cNvSpPr txBox="1"/>
          <p:nvPr/>
        </p:nvSpPr>
        <p:spPr>
          <a:xfrm>
            <a:off x="139755" y="1233343"/>
            <a:ext cx="11905488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buNone/>
            </a:pPr>
            <a:r>
              <a:rPr lang="zh-CN" altLang="en-US" sz="32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评分说明：</a:t>
            </a:r>
            <a:endParaRPr lang="en-US" altLang="zh-CN" sz="3200" b="1" kern="100" dirty="0">
              <a:solidFill>
                <a:srgbClr val="FF0000"/>
              </a:solidFill>
              <a:effectLst/>
              <a:latin typeface="黑体" panose="02010609060101010101" pitchFamily="49" charset="-122"/>
              <a:ea typeface="宋体" panose="02010600030101010101" pitchFamily="2" charset="-122"/>
            </a:endParaRPr>
          </a:p>
          <a:p>
            <a:pPr indent="30480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、数据分析是针对输入数据做一些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主观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上的观察和判断说明，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比如数据是干什么的，包含哪些数据污染情况等，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评分占比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5%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、数据处理是针对输入数据做数据清洗和特征工程，评分占比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30%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、多算法实验分析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实现至少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种多分类算法（包含至少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种课堂上没讲过的算法，自己查资料实现），分析内容包括，测试集精度对比，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loss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曲线对比（非训练型的不做），算法推理速度对比，算法鲁棒性对比（训练数据加入不同强度不同类型的噪声后，精度下降情况），算法的过拟合分析（训练集和测试机精度差异），评分占比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30%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4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、按照工程文件夹架构集成到</a:t>
            </a:r>
            <a:r>
              <a:rPr lang="zh-CN" altLang="en-US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一起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，包含但不限于数据加载和预处理模块、调用算法训练模块、测试模块等，用统一指令在命令行调用，算法运行阶段不要用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UI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显示。做完系统后上传到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github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上展示，写好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readme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，展示界面包含数据描述，数据处理用了哪些，算法实现了哪些，把所有算法的精度表列出来，评分占比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30%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。该部分内容作为单独一章，以截图混合文字描述的形式列在大论文中，要给出网页链接，方便教师查看。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kern="100" dirty="0">
                <a:effectLst/>
                <a:latin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400" kern="10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、课程总结，通过课程学到了什么内容，以及对课程的评价和建议，占比</a:t>
            </a:r>
            <a:r>
              <a:rPr lang="en-US" altLang="zh-CN" sz="2400" kern="10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5%</a:t>
            </a:r>
            <a:r>
              <a:rPr lang="zh-CN" altLang="zh-CN" sz="2400" kern="10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368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5F3B-0CD4-E8AF-09EF-B6D3EAC9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FA48858-9932-56A0-5AF4-8FF771431A0E}"/>
              </a:ext>
            </a:extLst>
          </p:cNvPr>
          <p:cNvSpPr txBox="1">
            <a:spLocks noChangeArrowheads="1"/>
          </p:cNvSpPr>
          <p:nvPr/>
        </p:nvSpPr>
        <p:spPr>
          <a:xfrm>
            <a:off x="668338" y="235898"/>
            <a:ext cx="1152366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2026_AIT209_</a:t>
            </a:r>
            <a:r>
              <a:rPr lang="zh-CN" altLang="en-US" kern="0" dirty="0">
                <a:solidFill>
                  <a:schemeClr val="tx1"/>
                </a:solidFill>
              </a:rPr>
              <a:t>期末作业</a:t>
            </a:r>
            <a:endParaRPr lang="en-US" altLang="zh-CN" kern="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96BCD8-D8E6-F660-9A5D-128E676203AB}"/>
              </a:ext>
            </a:extLst>
          </p:cNvPr>
          <p:cNvSpPr txBox="1"/>
          <p:nvPr/>
        </p:nvSpPr>
        <p:spPr>
          <a:xfrm>
            <a:off x="286512" y="1469958"/>
            <a:ext cx="11657132" cy="367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buNone/>
            </a:pPr>
            <a:r>
              <a:rPr lang="zh-CN" altLang="en-US" sz="32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加分说明：</a:t>
            </a:r>
            <a:endParaRPr lang="en-US" altLang="zh-CN" sz="3200" b="1" kern="100" dirty="0">
              <a:solidFill>
                <a:srgbClr val="FF0000"/>
              </a:solidFill>
              <a:effectLst/>
              <a:latin typeface="黑体" panose="02010609060101010101" pitchFamily="49" charset="-122"/>
              <a:ea typeface="宋体" panose="02010600030101010101" pitchFamily="2" charset="-122"/>
            </a:endParaRPr>
          </a:p>
          <a:p>
            <a:pPr lvl="3" indent="304800" algn="just">
              <a:lnSpc>
                <a:spcPct val="200000"/>
              </a:lnSpc>
            </a:pPr>
            <a:r>
              <a:rPr lang="en-US" altLang="zh-CN" kern="100" dirty="0"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丰富的图表配合文字解释分析；</a:t>
            </a:r>
            <a:endParaRPr lang="en-US" altLang="zh-CN" kern="1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3" indent="304800" algn="just">
              <a:lnSpc>
                <a:spcPct val="20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、足够且言之有物的论文篇幅；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3" indent="304800" algn="just">
              <a:lnSpc>
                <a:spcPct val="20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、除“评分说明”评测的项目外的其他可对比维度；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3" indent="304800" algn="just">
              <a:lnSpc>
                <a:spcPct val="20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、精美全面的</a:t>
            </a:r>
            <a:r>
              <a:rPr lang="en-US" altLang="zh-CN" dirty="0" err="1"/>
              <a:t>github</a:t>
            </a:r>
            <a:r>
              <a:rPr lang="zh-CN" altLang="en-US" dirty="0"/>
              <a:t>页面展示。</a:t>
            </a:r>
          </a:p>
        </p:txBody>
      </p:sp>
    </p:spTree>
    <p:extLst>
      <p:ext uri="{BB962C8B-B14F-4D97-AF65-F5344CB8AC3E}">
        <p14:creationId xmlns:p14="http://schemas.microsoft.com/office/powerpoint/2010/main" val="283738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8B27-850A-529D-C19D-BD2D3325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A5B1F89-EB8F-0FDD-055A-F26323190124}"/>
              </a:ext>
            </a:extLst>
          </p:cNvPr>
          <p:cNvSpPr txBox="1">
            <a:spLocks noChangeArrowheads="1"/>
          </p:cNvSpPr>
          <p:nvPr/>
        </p:nvSpPr>
        <p:spPr>
          <a:xfrm>
            <a:off x="668338" y="235898"/>
            <a:ext cx="11523662" cy="6778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/>
            <a:r>
              <a:rPr lang="en-US" altLang="zh-CN" kern="0" dirty="0">
                <a:solidFill>
                  <a:schemeClr val="tx1"/>
                </a:solidFill>
              </a:rPr>
              <a:t>2026_AIT209_</a:t>
            </a:r>
            <a:r>
              <a:rPr lang="zh-CN" altLang="en-US" kern="0" dirty="0">
                <a:solidFill>
                  <a:schemeClr val="tx1"/>
                </a:solidFill>
              </a:rPr>
              <a:t>期末作业</a:t>
            </a:r>
            <a:endParaRPr lang="en-US" altLang="zh-CN" kern="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AC528E-89C6-6313-2DD5-296E4E82349C}"/>
              </a:ext>
            </a:extLst>
          </p:cNvPr>
          <p:cNvSpPr txBox="1"/>
          <p:nvPr/>
        </p:nvSpPr>
        <p:spPr>
          <a:xfrm>
            <a:off x="79022" y="1469958"/>
            <a:ext cx="12056533" cy="519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buNone/>
            </a:pPr>
            <a:r>
              <a:rPr lang="zh-CN" altLang="en-US" sz="3200" b="1" kern="1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宋体" panose="02010600030101010101" pitchFamily="2" charset="-122"/>
              </a:rPr>
              <a:t>平时作业加分说明：</a:t>
            </a:r>
            <a:endParaRPr lang="en-US" altLang="zh-CN" sz="3200" b="1" kern="100" dirty="0">
              <a:solidFill>
                <a:srgbClr val="FF0000"/>
              </a:solidFill>
              <a:effectLst/>
              <a:latin typeface="黑体" panose="02010609060101010101" pitchFamily="49" charset="-122"/>
              <a:ea typeface="宋体" panose="02010600030101010101" pitchFamily="2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作业分基础作业和附加作业，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基础作业有多项内容依然只算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分，附加题每题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当堂完成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的基础作业和附加作业均以</a:t>
            </a: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为系数，课上未完成但课后通过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线上提交完成的以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0.8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为系数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线上提交只算基础题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不算附加题分数；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、有当堂加分错误的同学可以现在带着作业来提出异议，核准确认后按当堂完成系数计算，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该项内容仅限本节课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、剩下的课程可对前面没有做完的作业进行补充查看，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必须当堂查看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，包括：所有未提交的普通作业和附加题，但以此项进行补充查看的作业项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以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0.6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的系数算分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en-US" altLang="zh-CN" kern="1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indent="304800" algn="just">
              <a:lnSpc>
                <a:spcPct val="150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lang="zh-CN" altLang="en-US" kern="100" dirty="0">
                <a:latin typeface="Times New Roman" panose="02020603050405020304" pitchFamily="18" charset="0"/>
                <a:ea typeface="黑体" panose="02010609060101010101" pitchFamily="49" charset="-122"/>
              </a:rPr>
              <a:t>、截止时间为最后一节课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2026.06.26</a:t>
            </a:r>
            <a:r>
              <a:rPr lang="zh-CN" altLang="en-US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9715470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16071</TotalTime>
  <Words>680</Words>
  <Application>Microsoft Office PowerPoint</Application>
  <PresentationFormat>宽屏</PresentationFormat>
  <Paragraphs>28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黑体</vt:lpstr>
      <vt:lpstr>Arial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</dc:title>
  <dc:creator>黄海广</dc:creator>
  <cp:lastModifiedBy>Peng Wang</cp:lastModifiedBy>
  <cp:revision>3384</cp:revision>
  <cp:lastPrinted>2018-06-09T17:02:00Z</cp:lastPrinted>
  <dcterms:created xsi:type="dcterms:W3CDTF">2016-05-18T20:32:00Z</dcterms:created>
  <dcterms:modified xsi:type="dcterms:W3CDTF">2026-06-10T04:57:04Z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